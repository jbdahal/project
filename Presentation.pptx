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69" r:id="rId4"/>
    <p:sldId id="270" r:id="rId5"/>
    <p:sldId id="271" r:id="rId6"/>
    <p:sldId id="272" r:id="rId7"/>
    <p:sldId id="278" r:id="rId8"/>
    <p:sldId id="273" r:id="rId9"/>
    <p:sldId id="274" r:id="rId10"/>
    <p:sldId id="275" r:id="rId11"/>
    <p:sldId id="261" r:id="rId12"/>
    <p:sldId id="276" r:id="rId13"/>
    <p:sldId id="260" r:id="rId14"/>
    <p:sldId id="258" r:id="rId15"/>
    <p:sldId id="259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2A5B95-073A-32FE-2B0C-B767B8FB43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65D4E5A-EF03-4DC1-85E9-2368814CF1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F10E5F-0F06-4CF5-B134-620D6FEE02A8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E2B6997-F337-0053-970E-A089CFF363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5DE1FF0-7A70-7807-5494-526CD57750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F9DAF-8818-4347-BB55-3EE59FE91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3089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D6813-02C4-439C-9B6A-D1145ACD1CFB}" type="datetimeFigureOut">
              <a:rPr lang="en-US" smtClean="0"/>
              <a:t>6/25/2023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E3BD8-E8B1-4ACA-90A8-F0A6F41843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343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6E3BD8-E8B1-4ACA-90A8-F0A6F41843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74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CA4A2D-3B67-9293-5383-EB5DDD045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C65BDF9-6CF7-8ECD-847D-BE1098422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2965B8-17ED-AEFA-737B-AEAE3DE00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67AEB-4AC3-472D-AD33-B5F22F8C11DB}" type="datetime1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BA48ED-1735-CF29-D5F5-0443A914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37FFD8-A97D-6123-2D71-68B12E56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64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008C5C-EF3B-E06A-DD6D-1CB4E53F8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63525C-10C9-6B87-287E-F3E9DF61E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393FFE-908E-DDA9-35F6-1EC9721D4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47F6A-C39C-4E5C-94BA-52229E88F124}" type="datetime1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9FD9120-5788-68A6-93B1-8AB2E1C3E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4B052D7-5DFA-176D-6EC8-88F4CCB5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7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563E24-BEAA-A863-5915-F9327C81F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DF8A50B-A134-12C6-43DC-8EE41FE3F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A757B5-2BE4-F7F6-043A-E856274E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039F4-65B4-453D-9DC0-5C84B5DDBF2F}" type="datetime1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E208564-5F18-9E34-F88E-8E4785E81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FDD796-CA16-5892-F0B7-FCBF6108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39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737D58-DE50-CC9F-A36E-35FB3060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B2C8C0-F24E-0651-1D21-4858EC5EA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6CEAF8E-B651-8540-CCFB-6B884FD39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56664C3-8B08-1D6A-D6B6-A1FB9B185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D2FD-3C9A-4D94-87EA-EC68922625B3}" type="datetime1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986654-A65B-88EF-D9DF-E113B2838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94EE438-352A-3FB8-EA9B-6A11A634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5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E67A76-CB81-6E3F-E9CA-8B90CB74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02EAE2A-09CD-A3CB-B037-36502D295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0003ACA-4700-4758-7C44-C7E94B716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992F4C3-D4AA-6E5E-C79E-CD365EC13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B875DCD-5A44-E71F-B371-1945B276D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6BF2B6B-8076-61AB-33BD-4BC65CCEA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E395B-8A4D-4193-AD24-5D8CF3B1C4BF}" type="datetime1">
              <a:rPr lang="en-US" smtClean="0"/>
              <a:t>6/25/2023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970D266-BBC0-1AFE-56D8-F9C9F4E79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BE46DA8-7EC7-3948-FEA3-C6CE36BB9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7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3396F6-AA09-DBBE-FC24-2EC774AEB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FAF2266-CC37-DAE2-7C7F-6D1729F4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EACAA-5C0F-41AE-9209-FB72CD36E4A1}" type="datetime1">
              <a:rPr lang="en-US" smtClean="0"/>
              <a:t>6/25/2023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10BEA69-2314-DFA5-D126-7E530432C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387CC00-3380-F9C0-A942-27A0C300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03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2F595E2-DF29-BA81-07E1-27937A7CC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DD202-DB66-4D2A-A1F3-416F5C2D0EC6}" type="datetime1">
              <a:rPr lang="en-US" smtClean="0"/>
              <a:t>6/25/2023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C2A53F1-7369-E2C1-70F6-8A1FE9C6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8C78526-71E3-72CA-E42D-D934E67DD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3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B3E114-DB81-59BF-A70D-77A2A5AF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24149B-925E-CBFA-22CE-C0CBBF48D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C151557-CA51-0135-5BDE-1B140392C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BB1AEC9-65E6-8643-91FF-4BD319988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46D8-F88C-4DA5-BA12-24927E91FA2F}" type="datetime1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120ED14-17F8-5D7B-58CB-63DEA923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72FFE5E-B4C5-133B-96EE-EAB22CC51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73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362372-F3B2-F4BE-FD5C-E32A4E28E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DBE6D38-D3A4-29B0-24E5-AFC623692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394BF3D-B1B6-3FF3-7C37-A78F543D7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829996B-16E8-E196-CFA6-A00616F2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370F-18A8-4D86-9083-87D46FA68387}" type="datetime1">
              <a:rPr lang="en-US" smtClean="0"/>
              <a:t>6/25/2023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6431087-CF20-08D2-CC10-CCC91E9B8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6943783-88E3-079A-A9BE-1F18B9B5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7DF73A-E44C-8446-C1C7-8BA58882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00805E6-5C98-2EEA-8C9F-A8CB9D78C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2B51A6-0C24-46BC-3E90-F5C4DD3B7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6CAC0-95C5-4A04-BAC6-22B3BAE7C522}" type="datetime1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E5DE97-80C0-C9B8-C92D-BA840D95B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111CEDE-57DE-16D2-E003-37D4BDF15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37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04700B4-CEEF-69CC-C192-0F4D86E38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9F6404F-97FD-F713-2706-32F26134F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F49B46E-A0CF-4F4F-A8F0-0D318DDB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89AFE-C5BE-4894-919B-47327118C12D}" type="datetime1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A2846C3-18A7-4DCB-5D70-4C0A41E5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0AD3BB-845A-3A12-DB4E-E7A429D0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3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4308DAA-CAA8-5090-A64B-78B0AA20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32BB865-00B6-10A1-7944-5DCD60504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4072E1-0653-A8B5-F046-B9BB63D92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A2BD1-F49B-4B97-AD62-4589C3704FD7}" type="datetime1">
              <a:rPr lang="en-US" smtClean="0"/>
              <a:t>6/25/2023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34BCBB4-84FE-FBAC-676B-8A863FB85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9A0E4E-4904-773A-48B2-D99DD9FD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4531E-A444-4CC5-9237-4D86A1BA2B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0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D2C6875-E4B1-55E9-1B14-CCED4FE0C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428999"/>
            <a:ext cx="10515599" cy="3518065"/>
          </a:xfrm>
        </p:spPr>
        <p:txBody>
          <a:bodyPr>
            <a:norm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H-Mate: The Hospital Application</a:t>
            </a:r>
          </a:p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Gnawali	 [KAT077BCT005]</a:t>
            </a:r>
          </a:p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Bhuwan Shrestha	 [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KAT077BCT014]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Jyoti Bhusan Dahal	 [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KAT077BCT028]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Mohit Raj Aryal	 [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KAT077BCT030]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2080/03/12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27DF516B-B0B4-8BD7-E3D4-F2DB840E8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794" y="0"/>
            <a:ext cx="9144000" cy="2387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TRIBHUVAN UNIVERSITY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ENGINEERING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Kathmandu Engineering College</a:t>
            </a:r>
            <a:b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Kalimati, Kathmandu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744B90E-EE27-4AB4-0301-EFD00ACEF7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892" y="1855613"/>
            <a:ext cx="1805801" cy="180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0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FB3ECF-A820-AD51-0561-68832A47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405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45FCBD-FD3A-5590-01E1-682919C83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9391"/>
            <a:ext cx="10621488" cy="6228609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and Applications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Existing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Proposed by Our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Incremental Development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Incremental?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Block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 marL="514350" indent="-514350">
              <a:buFont typeface="+mj-lt"/>
              <a:buAutoNum type="arabicPeriod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08B31AC-9804-C96B-C318-1C93C40C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4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9B2CAE-1A39-68F7-4F53-2672E700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7A13C1-95C7-8CC8-207A-4C022EF3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73150"/>
            <a:ext cx="10828283" cy="5283200"/>
          </a:xfrm>
        </p:spPr>
        <p:txBody>
          <a:bodyPr/>
          <a:lstStyle/>
          <a:p>
            <a:r>
              <a:rPr lang="en-US" dirty="0"/>
              <a:t>H-Mate is a mobile-based application that provides basic health-related services like doctor appointments, and doctor </a:t>
            </a:r>
            <a:r>
              <a:rPr lang="en-US" dirty="0" smtClean="0"/>
              <a:t>recommendations.</a:t>
            </a:r>
          </a:p>
          <a:p>
            <a:r>
              <a:rPr lang="en-US" dirty="0" smtClean="0"/>
              <a:t>Medical applications have revolutionized the </a:t>
            </a:r>
            <a:r>
              <a:rPr lang="en-US" dirty="0"/>
              <a:t>way individuals interact with healthcare providers. It increases access to health </a:t>
            </a:r>
            <a:r>
              <a:rPr lang="en-US" dirty="0" smtClean="0"/>
              <a:t>services.</a:t>
            </a:r>
          </a:p>
          <a:p>
            <a:r>
              <a:rPr lang="en-US" dirty="0"/>
              <a:t>The application also acts as an awareness medium for individuals about common health-related issues and their precautions.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4880D5-2B35-9667-AA29-8F41618F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2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9B2CAE-1A39-68F7-4F53-2672E700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7A13C1-95C7-8CC8-207A-4C022EF3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150"/>
            <a:ext cx="10515600" cy="5283200"/>
          </a:xfrm>
        </p:spPr>
        <p:txBody>
          <a:bodyPr/>
          <a:lstStyle/>
          <a:p>
            <a:r>
              <a:rPr lang="en-US" dirty="0"/>
              <a:t>In Nepal, there is a lack of proper medical care for people whose salary is less than the </a:t>
            </a:r>
            <a:r>
              <a:rPr lang="en-US" dirty="0" smtClean="0"/>
              <a:t>average.</a:t>
            </a:r>
          </a:p>
          <a:p>
            <a:r>
              <a:rPr lang="en-US" dirty="0" smtClean="0"/>
              <a:t>There is long </a:t>
            </a:r>
            <a:r>
              <a:rPr lang="en-US" dirty="0"/>
              <a:t>waiting hours for medical services and a tight schedule with a lack of ability for timely and routine </a:t>
            </a:r>
            <a:r>
              <a:rPr lang="en-US" dirty="0" smtClean="0"/>
              <a:t>checkups.</a:t>
            </a:r>
          </a:p>
          <a:p>
            <a:r>
              <a:rPr lang="en-US" dirty="0"/>
              <a:t>The geographical condition of Nepal makes it difficult to provide proper health services to people due to lack of mobility.</a:t>
            </a:r>
          </a:p>
          <a:p>
            <a:r>
              <a:rPr lang="en-US" dirty="0"/>
              <a:t>The significant costs associated with infrastructure, transportation, and manpower pose challenges in delivering affordable </a:t>
            </a:r>
            <a:r>
              <a:rPr lang="en-US" dirty="0" smtClean="0"/>
              <a:t>healthcare.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4880D5-2B35-9667-AA29-8F41618F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2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9B2CAE-1A39-68F7-4F53-2672E700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7A13C1-95C7-8CC8-207A-4C022EF3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150"/>
            <a:ext cx="10515600" cy="52832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major objectives of this project are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 smtClean="0"/>
              <a:t>To </a:t>
            </a:r>
            <a:r>
              <a:rPr lang="en-US" dirty="0"/>
              <a:t>provide a platform for everyone to book an appointment with a specialist doctor based on their symptoms.</a:t>
            </a:r>
          </a:p>
          <a:p>
            <a:r>
              <a:rPr lang="en-US" dirty="0" smtClean="0"/>
              <a:t>To </a:t>
            </a:r>
            <a:r>
              <a:rPr lang="en-US" dirty="0"/>
              <a:t>make a hospital management system where hospital staff can keep a record of patients.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4880D5-2B35-9667-AA29-8F41618F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2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9B2CAE-1A39-68F7-4F53-2672E700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SCOPE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7A13C1-95C7-8CC8-207A-4C022EF3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150"/>
            <a:ext cx="10515600" cy="5283200"/>
          </a:xfrm>
        </p:spPr>
        <p:txBody>
          <a:bodyPr/>
          <a:lstStyle/>
          <a:p>
            <a:r>
              <a:rPr lang="en-US" dirty="0"/>
              <a:t>Hospital-based application is not a new concept in Nepal as it has been in use for a few years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Some </a:t>
            </a:r>
            <a:r>
              <a:rPr lang="en-US" dirty="0"/>
              <a:t>hospital-based applications or websites </a:t>
            </a:r>
            <a:r>
              <a:rPr lang="en-US" dirty="0" smtClean="0"/>
              <a:t>are: </a:t>
            </a:r>
            <a:r>
              <a:rPr lang="en-US" dirty="0"/>
              <a:t>Hamro Doctor, Nepal Mediciti, Okhati, and </a:t>
            </a:r>
            <a:r>
              <a:rPr lang="en-US" dirty="0" smtClean="0"/>
              <a:t>others.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4880D5-2B35-9667-AA29-8F41618F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9B2CAE-1A39-68F7-4F53-2672E700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SCOPE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7A13C1-95C7-8CC8-207A-4C022EF3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150"/>
            <a:ext cx="10515600" cy="5283200"/>
          </a:xfrm>
        </p:spPr>
        <p:txBody>
          <a:bodyPr/>
          <a:lstStyle/>
          <a:p>
            <a:r>
              <a:rPr lang="en-US" dirty="0" smtClean="0"/>
              <a:t>The application </a:t>
            </a:r>
            <a:r>
              <a:rPr lang="en-US" dirty="0"/>
              <a:t>of this software is to schedule appointments for patients and ensure timely access to healthcare </a:t>
            </a:r>
            <a:r>
              <a:rPr lang="en-US" dirty="0" smtClean="0"/>
              <a:t>services</a:t>
            </a:r>
          </a:p>
          <a:p>
            <a:r>
              <a:rPr lang="en-US" dirty="0" smtClean="0"/>
              <a:t>This </a:t>
            </a:r>
            <a:r>
              <a:rPr lang="en-US" dirty="0"/>
              <a:t>software can also manage different medical files and resources for doctors and </a:t>
            </a:r>
            <a:r>
              <a:rPr lang="en-US" dirty="0" smtClean="0"/>
              <a:t>hospitals</a:t>
            </a:r>
          </a:p>
          <a:p>
            <a:r>
              <a:rPr lang="en-US" dirty="0"/>
              <a:t>The main application of this software is used to enhance patient experience, streamline </a:t>
            </a:r>
            <a:r>
              <a:rPr lang="en-US" dirty="0" smtClean="0"/>
              <a:t>and </a:t>
            </a:r>
            <a:r>
              <a:rPr lang="en-US" dirty="0"/>
              <a:t>effective resource </a:t>
            </a:r>
            <a:r>
              <a:rPr lang="en-US" dirty="0" smtClean="0"/>
              <a:t>management</a:t>
            </a:r>
            <a:r>
              <a:rPr lang="en-US" dirty="0"/>
              <a:t>.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4880D5-2B35-9667-AA29-8F41618F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1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9B2CAE-1A39-68F7-4F53-2672E700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EXISTING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7A13C1-95C7-8CC8-207A-4C022EF3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150"/>
            <a:ext cx="10515600" cy="52832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Some of the existing hospital-based applications in Nepal that are:</a:t>
            </a:r>
          </a:p>
          <a:p>
            <a:r>
              <a:rPr lang="en-US" dirty="0" smtClean="0"/>
              <a:t>Hamro Doctor</a:t>
            </a:r>
          </a:p>
          <a:p>
            <a:r>
              <a:rPr lang="en-US" dirty="0" smtClean="0"/>
              <a:t>Okhati</a:t>
            </a:r>
          </a:p>
          <a:p>
            <a:r>
              <a:rPr lang="en-US" dirty="0" err="1" smtClean="0"/>
              <a:t>Saral</a:t>
            </a:r>
            <a:r>
              <a:rPr lang="en-US" dirty="0" smtClean="0"/>
              <a:t> Health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4880D5-2B35-9667-AA29-8F41618F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56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9B2CAE-1A39-68F7-4F53-2672E700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LIMITATIONS OF THE EXISTING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7A13C1-95C7-8CC8-207A-4C022EF3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150"/>
            <a:ext cx="10515600" cy="5283200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pplications aren’t introducing </a:t>
            </a:r>
            <a:r>
              <a:rPr lang="en-US" dirty="0"/>
              <a:t>any new kind of </a:t>
            </a:r>
            <a:r>
              <a:rPr lang="en-US" dirty="0" smtClean="0"/>
              <a:t>features.</a:t>
            </a:r>
          </a:p>
          <a:p>
            <a:r>
              <a:rPr lang="en-US" dirty="0" smtClean="0"/>
              <a:t>Fails to meet </a:t>
            </a:r>
            <a:r>
              <a:rPr lang="en-US" dirty="0"/>
              <a:t>some </a:t>
            </a:r>
            <a:r>
              <a:rPr lang="en-US" dirty="0" smtClean="0"/>
              <a:t>requirements </a:t>
            </a:r>
            <a:r>
              <a:rPr lang="en-US" dirty="0"/>
              <a:t>of the </a:t>
            </a:r>
            <a:r>
              <a:rPr lang="en-US" dirty="0" smtClean="0"/>
              <a:t>users.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4880D5-2B35-9667-AA29-8F41618F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0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9B2CAE-1A39-68F7-4F53-2672E700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SOLUTIONS PROPOSED BY OUR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7A13C1-95C7-8CC8-207A-4C022EF3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150"/>
            <a:ext cx="10515600" cy="5283200"/>
          </a:xfrm>
        </p:spPr>
        <p:txBody>
          <a:bodyPr/>
          <a:lstStyle/>
          <a:p>
            <a:r>
              <a:rPr lang="en-US" dirty="0" smtClean="0"/>
              <a:t>Our application provides </a:t>
            </a:r>
            <a:r>
              <a:rPr lang="en-US" dirty="0"/>
              <a:t>users extra features like recommending specialist doctors according to their </a:t>
            </a:r>
            <a:r>
              <a:rPr lang="en-US" dirty="0" smtClean="0"/>
              <a:t>symptoms.</a:t>
            </a:r>
          </a:p>
          <a:p>
            <a:r>
              <a:rPr lang="en-US" dirty="0" smtClean="0"/>
              <a:t>Easy to </a:t>
            </a:r>
            <a:r>
              <a:rPr lang="en-US" dirty="0"/>
              <a:t>use </a:t>
            </a:r>
            <a:r>
              <a:rPr lang="en-US" dirty="0" smtClean="0"/>
              <a:t>application </a:t>
            </a:r>
            <a:r>
              <a:rPr lang="en-US" dirty="0"/>
              <a:t>without any difficulties as the UI used in the application will be simple and </a:t>
            </a:r>
            <a:r>
              <a:rPr lang="en-US" dirty="0" smtClean="0"/>
              <a:t>user-friendly.</a:t>
            </a:r>
          </a:p>
          <a:p>
            <a:r>
              <a:rPr lang="en-US" dirty="0"/>
              <a:t>Availability of various features in a single application thus limiting the need to use multiple applications.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4880D5-2B35-9667-AA29-8F41618F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4897C4-463C-A5FF-92F2-A6B183AFD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4267"/>
            <a:ext cx="12192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METHODOLOGY: INCREMENTAL DEVELOPMENT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A01D04C-2563-F6ED-D450-E67EC28AA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443" y="1295791"/>
            <a:ext cx="7555113" cy="4266417"/>
          </a:xfr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E222C899-3E1F-75AD-3FAB-ACB4785A1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8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9B2CAE-1A39-68F7-4F53-2672E700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WHY INCREMENTAL?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7A13C1-95C7-8CC8-207A-4C022EF3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150"/>
            <a:ext cx="10515600" cy="5283200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ncremental </a:t>
            </a:r>
            <a:r>
              <a:rPr lang="en-US" dirty="0"/>
              <a:t>model </a:t>
            </a:r>
            <a:r>
              <a:rPr lang="en-US" dirty="0" smtClean="0"/>
              <a:t>flexibility </a:t>
            </a:r>
            <a:r>
              <a:rPr lang="en-US" dirty="0"/>
              <a:t>and adaptability during the development </a:t>
            </a:r>
            <a:r>
              <a:rPr lang="en-US" dirty="0" smtClean="0"/>
              <a:t>process.</a:t>
            </a:r>
          </a:p>
          <a:p>
            <a:r>
              <a:rPr lang="en-US" dirty="0"/>
              <a:t>N</a:t>
            </a:r>
            <a:r>
              <a:rPr lang="en-US" dirty="0" smtClean="0"/>
              <a:t>umber </a:t>
            </a:r>
            <a:r>
              <a:rPr lang="en-US" dirty="0"/>
              <a:t>of features that could be designed and implemented within the </a:t>
            </a:r>
            <a:r>
              <a:rPr lang="en-US" dirty="0" smtClean="0"/>
              <a:t>timeframe.</a:t>
            </a:r>
          </a:p>
          <a:p>
            <a:r>
              <a:rPr lang="en-US" dirty="0"/>
              <a:t>P</a:t>
            </a:r>
            <a:r>
              <a:rPr lang="en-US" dirty="0" smtClean="0"/>
              <a:t>rojects </a:t>
            </a:r>
            <a:r>
              <a:rPr lang="en-US" dirty="0"/>
              <a:t>face risks and uncertainties the incremental model assists in risk </a:t>
            </a:r>
            <a:r>
              <a:rPr lang="en-US" dirty="0" smtClean="0"/>
              <a:t>mitigation.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4880D5-2B35-9667-AA29-8F41618F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7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153831-2FAB-0F43-8C7F-983FE718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01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SYSTEM BLOCK DIAGRAM</a:t>
            </a:r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9822AB4-C1A8-99A9-38AD-AD085DBAC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10" y="491651"/>
            <a:ext cx="10675179" cy="611103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2A357B-C146-63BE-4ACC-6A602456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0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B16A1CA-DC84-6978-E629-B960CC77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4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FLOWCHART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C96B771-DA96-F59B-D620-54F43A011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530" y="118751"/>
            <a:ext cx="6170340" cy="670546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C9CD6C9-F67D-7909-89AA-10B2F312A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9C959D-8651-4C52-B2D6-C9FA42EE4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246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GANTT CHART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A3F7E12A-6C85-AA90-66DD-0660AA0AE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999276"/>
              </p:ext>
            </p:extLst>
          </p:nvPr>
        </p:nvGraphicFramePr>
        <p:xfrm>
          <a:off x="1543792" y="1021278"/>
          <a:ext cx="9001496" cy="5486400"/>
        </p:xfrm>
        <a:graphic>
          <a:graphicData uri="http://schemas.openxmlformats.org/drawingml/2006/table">
            <a:tbl>
              <a:tblPr firstRow="1" firstCol="1" bandRow="1"/>
              <a:tblGrid>
                <a:gridCol w="1888499">
                  <a:extLst>
                    <a:ext uri="{9D8B030D-6E8A-4147-A177-3AD203B41FA5}">
                      <a16:colId xmlns:a16="http://schemas.microsoft.com/office/drawing/2014/main" xmlns="" val="3998972299"/>
                    </a:ext>
                  </a:extLst>
                </a:gridCol>
                <a:gridCol w="704448">
                  <a:extLst>
                    <a:ext uri="{9D8B030D-6E8A-4147-A177-3AD203B41FA5}">
                      <a16:colId xmlns:a16="http://schemas.microsoft.com/office/drawing/2014/main" xmlns="" val="774957195"/>
                    </a:ext>
                  </a:extLst>
                </a:gridCol>
                <a:gridCol w="761383">
                  <a:extLst>
                    <a:ext uri="{9D8B030D-6E8A-4147-A177-3AD203B41FA5}">
                      <a16:colId xmlns:a16="http://schemas.microsoft.com/office/drawing/2014/main" xmlns="" val="2665109744"/>
                    </a:ext>
                  </a:extLst>
                </a:gridCol>
                <a:gridCol w="771998">
                  <a:extLst>
                    <a:ext uri="{9D8B030D-6E8A-4147-A177-3AD203B41FA5}">
                      <a16:colId xmlns:a16="http://schemas.microsoft.com/office/drawing/2014/main" xmlns="" val="1229829722"/>
                    </a:ext>
                  </a:extLst>
                </a:gridCol>
                <a:gridCol w="725678">
                  <a:extLst>
                    <a:ext uri="{9D8B030D-6E8A-4147-A177-3AD203B41FA5}">
                      <a16:colId xmlns:a16="http://schemas.microsoft.com/office/drawing/2014/main" xmlns="" val="2778285090"/>
                    </a:ext>
                  </a:extLst>
                </a:gridCol>
                <a:gridCol w="715063">
                  <a:extLst>
                    <a:ext uri="{9D8B030D-6E8A-4147-A177-3AD203B41FA5}">
                      <a16:colId xmlns:a16="http://schemas.microsoft.com/office/drawing/2014/main" xmlns="" val="2194721670"/>
                    </a:ext>
                  </a:extLst>
                </a:gridCol>
                <a:gridCol w="771998">
                  <a:extLst>
                    <a:ext uri="{9D8B030D-6E8A-4147-A177-3AD203B41FA5}">
                      <a16:colId xmlns:a16="http://schemas.microsoft.com/office/drawing/2014/main" xmlns="" val="4049719038"/>
                    </a:ext>
                  </a:extLst>
                </a:gridCol>
                <a:gridCol w="749804">
                  <a:extLst>
                    <a:ext uri="{9D8B030D-6E8A-4147-A177-3AD203B41FA5}">
                      <a16:colId xmlns:a16="http://schemas.microsoft.com/office/drawing/2014/main" xmlns="" val="251909143"/>
                    </a:ext>
                  </a:extLst>
                </a:gridCol>
                <a:gridCol w="611809">
                  <a:extLst>
                    <a:ext uri="{9D8B030D-6E8A-4147-A177-3AD203B41FA5}">
                      <a16:colId xmlns:a16="http://schemas.microsoft.com/office/drawing/2014/main" xmlns="" val="1897543435"/>
                    </a:ext>
                  </a:extLst>
                </a:gridCol>
                <a:gridCol w="632073">
                  <a:extLst>
                    <a:ext uri="{9D8B030D-6E8A-4147-A177-3AD203B41FA5}">
                      <a16:colId xmlns:a16="http://schemas.microsoft.com/office/drawing/2014/main" xmlns="" val="74866944"/>
                    </a:ext>
                  </a:extLst>
                </a:gridCol>
                <a:gridCol w="668743">
                  <a:extLst>
                    <a:ext uri="{9D8B030D-6E8A-4147-A177-3AD203B41FA5}">
                      <a16:colId xmlns:a16="http://schemas.microsoft.com/office/drawing/2014/main" xmlns="" val="2493684643"/>
                    </a:ext>
                  </a:extLst>
                </a:gridCol>
              </a:tblGrid>
              <a:tr h="55562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5</a:t>
                      </a:r>
                      <a:r>
                        <a:rPr lang="en-US" sz="1100" kern="100" baseline="30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th</a:t>
                      </a:r>
                      <a:r>
                        <a:rPr lang="en-US" sz="11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 SEM</a:t>
                      </a:r>
                      <a:endParaRPr lang="en-US" sz="10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6</a:t>
                      </a:r>
                      <a:r>
                        <a:rPr lang="en-US" sz="1100" kern="100" baseline="30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th</a:t>
                      </a: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SEM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10737547"/>
                  </a:ext>
                </a:extLst>
              </a:tr>
              <a:tr h="5556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Task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Jun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July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Aug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Sep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Oct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Nov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Dec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Jan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Feb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Mar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23648273"/>
                  </a:ext>
                </a:extLst>
              </a:tr>
              <a:tr h="8315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Documentation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8327366"/>
                  </a:ext>
                </a:extLst>
              </a:tr>
              <a:tr h="6003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Requirement Analysis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4667210"/>
                  </a:ext>
                </a:extLst>
              </a:tr>
              <a:tr h="7259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Design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17410158"/>
                  </a:ext>
                </a:extLst>
              </a:tr>
              <a:tr h="7787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Development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77100027"/>
                  </a:ext>
                </a:extLst>
              </a:tr>
              <a:tr h="7192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Testing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99472005"/>
                  </a:ext>
                </a:extLst>
              </a:tr>
              <a:tr h="71929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Implementation</a:t>
                      </a:r>
                      <a:endParaRPr lang="en-US" sz="10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</a:pPr>
                      <a:r>
                        <a:rPr lang="en-US" sz="11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Mangal" panose="02040503050203030202" pitchFamily="18" charset="0"/>
                        </a:rPr>
                        <a:t> </a:t>
                      </a:r>
                      <a:endParaRPr lang="en-US" sz="10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2870" marR="6287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24244703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FE324D3E-DD1B-456D-CBB8-43EA1C8F4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1869559"/>
            <a:ext cx="1107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60652C5-F2B5-6C5F-DF03-1ED2D79C2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8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9B2CAE-1A39-68F7-4F53-2672E700E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7A13C1-95C7-8CC8-207A-4C022EF3A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3150"/>
            <a:ext cx="10515600" cy="5283200"/>
          </a:xfrm>
        </p:spPr>
        <p:txBody>
          <a:bodyPr/>
          <a:lstStyle/>
          <a:p>
            <a:r>
              <a:rPr lang="en-US" dirty="0" smtClean="0"/>
              <a:t> PYTHON</a:t>
            </a:r>
          </a:p>
          <a:p>
            <a:r>
              <a:rPr lang="en-US" dirty="0" smtClean="0"/>
              <a:t>JAVASCRIPT</a:t>
            </a:r>
          </a:p>
          <a:p>
            <a:r>
              <a:rPr lang="en-US" dirty="0" smtClean="0"/>
              <a:t>REACT NATIVE</a:t>
            </a:r>
          </a:p>
          <a:p>
            <a:r>
              <a:rPr lang="en-US" dirty="0" smtClean="0"/>
              <a:t>REACT JS</a:t>
            </a:r>
          </a:p>
          <a:p>
            <a:r>
              <a:rPr lang="en-US" dirty="0" smtClean="0"/>
              <a:t>GIT</a:t>
            </a:r>
          </a:p>
          <a:p>
            <a:r>
              <a:rPr lang="en-US" dirty="0" smtClean="0"/>
              <a:t>GITHUB </a:t>
            </a:r>
          </a:p>
          <a:p>
            <a:r>
              <a:rPr lang="en-US" dirty="0" smtClean="0"/>
              <a:t>MYSQL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74880D5-2B35-9667-AA29-8F41618F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531E-A444-4CC5-9237-4D86A1BA2B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2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555</Words>
  <Application>Microsoft Office PowerPoint</Application>
  <PresentationFormat>Widescreen</PresentationFormat>
  <Paragraphs>170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Mangal</vt:lpstr>
      <vt:lpstr>Times New Roman</vt:lpstr>
      <vt:lpstr>Office Theme</vt:lpstr>
      <vt:lpstr>TRIBHUVAN UNIVERSITY INSTITUTE OF ENGINEERING  Kathmandu Engineering College Kalimati, Kathmandu </vt:lpstr>
      <vt:lpstr>SLIDE OVERVIEW:</vt:lpstr>
      <vt:lpstr>1. INTRODUCTION</vt:lpstr>
      <vt:lpstr>2. PROBLEM STATEMENT</vt:lpstr>
      <vt:lpstr>3. OBJECTIVES</vt:lpstr>
      <vt:lpstr>4. SCOPE AND APPLICATIONS</vt:lpstr>
      <vt:lpstr>4. SCOPE AND APPLICATIONS</vt:lpstr>
      <vt:lpstr>5. EXISTING SYSTEMS</vt:lpstr>
      <vt:lpstr>6. LIMITATIONS OF THE EXISTING SYSTEMS</vt:lpstr>
      <vt:lpstr>7. SOLUTIONS PROPOSED BY OUR SYSTEM</vt:lpstr>
      <vt:lpstr>8. METHODOLOGY: INCREMENTAL DEVELOPMENT MODEL</vt:lpstr>
      <vt:lpstr>9. WHY INCREMENTAL?</vt:lpstr>
      <vt:lpstr>10. SYSTEM BLOCK DIAGRAM</vt:lpstr>
      <vt:lpstr>11. FLOWCHART</vt:lpstr>
      <vt:lpstr>12. GANTT CHART</vt:lpstr>
      <vt:lpstr>13. TOOLS USED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TRIBHUVAN UNIVERSITY INSTITUTE OF ENGINEERING  Kathmandu Engineering College Kalimati, Kathmandu </dc:title>
  <dc:creator>Bhuwan Shrestha</dc:creator>
  <cp:lastModifiedBy>Microsoft account</cp:lastModifiedBy>
  <cp:revision>37</cp:revision>
  <dcterms:created xsi:type="dcterms:W3CDTF">2023-06-24T16:18:08Z</dcterms:created>
  <dcterms:modified xsi:type="dcterms:W3CDTF">2023-06-25T06:40:57Z</dcterms:modified>
</cp:coreProperties>
</file>